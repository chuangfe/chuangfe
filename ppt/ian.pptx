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6858000" cx="12192000"/>
  <p:notesSz cx="6858000" cy="9144000"/>
  <p:embeddedFontLst>
    <p:embeddedFont>
      <p:font typeface="Libre Franklin"/>
      <p:regular r:id="rId20"/>
      <p:bold r:id="rId21"/>
      <p:italic r:id="rId22"/>
      <p:boldItalic r:id="rId23"/>
    </p:embeddedFont>
    <p:embeddedFont>
      <p:font typeface="Average"/>
      <p:regular r:id="rId24"/>
    </p:embeddedFont>
    <p:embeddedFont>
      <p:font typeface="Oswald"/>
      <p:regular r:id="rId25"/>
      <p:bold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ibreFranklin-regular.fntdata"/><Relationship Id="rId22" Type="http://schemas.openxmlformats.org/officeDocument/2006/relationships/font" Target="fonts/LibreFranklin-italic.fntdata"/><Relationship Id="rId21" Type="http://schemas.openxmlformats.org/officeDocument/2006/relationships/font" Target="fonts/LibreFranklin-bold.fntdata"/><Relationship Id="rId24" Type="http://schemas.openxmlformats.org/officeDocument/2006/relationships/font" Target="fonts/Average-regular.fntdata"/><Relationship Id="rId23" Type="http://schemas.openxmlformats.org/officeDocument/2006/relationships/font" Target="fonts/LibreFranklin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Oswald-bold.fntdata"/><Relationship Id="rId25" Type="http://schemas.openxmlformats.org/officeDocument/2006/relationships/font" Target="fonts/Oswald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zh-TW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zh-TW"/>
              <a:t>我有準備一份簡報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zh-TW"/>
              <a:t>介紹目前任職公司的工作內容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zh-TW"/>
              <a:t>也有選了幾個比較有代表性的專案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zh-TW"/>
              <a:t>時間大概會控制在 10 分鐘到 15 分鐘左右</a:t>
            </a:r>
            <a:endParaRPr/>
          </a:p>
        </p:txBody>
      </p:sp>
      <p:sp>
        <p:nvSpPr>
          <p:cNvPr id="74" name="Google Shape;7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0" name="Google Shape;8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5" name="Google Shape;8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zh-TW"/>
              <a:t>我準備了 4 個專案用於介紹我的工作內容</a:t>
            </a:r>
            <a:endParaRPr/>
          </a:p>
        </p:txBody>
      </p:sp>
      <p:sp>
        <p:nvSpPr>
          <p:cNvPr id="91" name="Google Shape;9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zh-TW"/>
              <a:t>near you 是線上房屋出租系統, 功能涵蓋租客尋找房屋, 房東的上架與管理, 平台審核與控制刊登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zh-TW"/>
              <a:t>因為有 SEO 的需求, 採用 Next.js 架構, 再加上 TypeScript 型別檢查與 MobX 狀態管理</a:t>
            </a:r>
            <a:endParaRPr/>
          </a:p>
        </p:txBody>
      </p:sp>
      <p:sp>
        <p:nvSpPr>
          <p:cNvPr id="96" name="Google Shape;9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zh-TW"/>
              <a:t>seo 的實作介紹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zh-TW"/>
              <a:t>使用 next 的 server side render 加上語意標籤,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zh-TW"/>
              <a:t>然後在 site map 的頁面, 都有動態的產生的 title, meta, json-ld, open graph</a:t>
            </a:r>
            <a:endParaRPr/>
          </a:p>
        </p:txBody>
      </p:sp>
      <p:sp>
        <p:nvSpPr>
          <p:cNvPr id="103" name="Google Shape;10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zh-TW"/>
              <a:t>搜尋的功能我採用 ant design form 表單管理所有的篩選條件, 這樣可以避免管理大量的狀態而導致程式變得複雜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zh-TW"/>
              <a:t>搜尋頁也實作滾動到底部的時候讀取下一頁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zh-TW"/>
              <a:t>同時每個房屋的地址有整合在 Google map, 提供給使用者確認實際的位置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zh-TW"/>
              <a:t>(可選)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zh-TW"/>
              <a:t>如果我自己實作會使用 Inter section observer</a:t>
            </a:r>
            <a:endParaRPr/>
          </a:p>
        </p:txBody>
      </p:sp>
      <p:sp>
        <p:nvSpPr>
          <p:cNvPr id="111" name="Google Shape;11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zh-TW"/>
              <a:t>背景介紹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zh-TW"/>
              <a:t>展昭國際公司主要的營運方式是關於展覽的業務, 像是舉辦展覽, 安排場地, 聯絡廠商, 展覽的行銷廣告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zh-TW"/>
              <a:t>以往客戶製作平面圖的方式是使用 Photoshop, 所以客戶的需求是希望可以將地圖繪製的功能做成線上系統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zh-TW"/>
              <a:t>根據客戶的描述, 展覽場地的攤位數量最高會超過 1000+, 這代表畫面上會有大量的物件, 實作方式需要特別選擇, 因為低階手機可能無法負荷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zh-TW"/>
              <a:t>經過 Mac 電腦的壓力測試</a:t>
            </a:r>
            <a:br>
              <a:rPr lang="zh-TW"/>
            </a:br>
            <a:r>
              <a:rPr lang="zh-TW"/>
              <a:t>Dom tree 可以負荷 800+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zh-TW"/>
              <a:t>SVG 可以負荷 2000+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zh-TW"/>
              <a:t>Canvas 可以負荷 4000+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zh-TW"/>
              <a:t>最後選擇使用 PixiJS 開發這個系統</a:t>
            </a:r>
            <a:endParaRPr/>
          </a:p>
        </p:txBody>
      </p:sp>
      <p:sp>
        <p:nvSpPr>
          <p:cNvPr id="118" name="Google Shape;11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zh-TW"/>
              <a:t>平面圖的功能包含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zh-TW"/>
              <a:t>攤位的新增, 編輯,  移動, 合併, 刪除, 上一步, 匯出 JPG, SVG …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zh-TW"/>
              <a:t>在這個專案中, 我嘗試用功能的面向切模組, 並且將功能模組集中在中間層管理, 中間層管理模組的載入與判斷模組各自的狀態, 外部需要模組的功能時使用的是中間層提供口, 已達成解耦合的設計, 然後只需要依照需求載入不同的模組, 就可以控制地圖有哪些功能, 甚至是不能編輯的唯讀模式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5" name="Google Shape;12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zh-TW"/>
              <a:t>Undo 的介紹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zh-TW"/>
              <a:t>我實作 Undo 的方式是每個操作都會紀錄攤位操作時的新舊狀態與操作的類型, 根據操作類型去讀取狀態做對應的處理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zh-TW"/>
              <a:t>將攤位畫成舊狀態的方式並不是去編輯攤位, 而是直接刪除, 然後依照舊的狀態重新畫出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zh-TW"/>
              <a:t>因為沒有直接的操作攤位, 所以可以省下一些攤位需要提供的街口與 Undo 需要的依賴關係</a:t>
            </a:r>
            <a:endParaRPr/>
          </a:p>
        </p:txBody>
      </p:sp>
      <p:sp>
        <p:nvSpPr>
          <p:cNvPr id="139" name="Google Shape;13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zh-TW"/>
              <a:t>為公共電視開發的 Android TV APP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zh-TW"/>
              <a:t>採用原生架構 Kotlin + Jetpack Compose(客戶要求)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zh-TW"/>
              <a:t>公視提供後端 API, 所以這個專案只需開發 APP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zh-TW"/>
              <a:t>在 Android 中 Jetpack Compose 是去年秋季左右推出正式版的新架構, 用於取代 Android 原本的布局方式 XML, 整體而言寫起來非常像 React 的 Functional Component, 所以習慣寫 React 的人應該可以適應的很快</a:t>
            </a:r>
            <a:endParaRPr/>
          </a:p>
        </p:txBody>
      </p:sp>
      <p:sp>
        <p:nvSpPr>
          <p:cNvPr id="146" name="Google Shape;14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zh-TW"/>
              <a:t>TV 平台最大的技術挑戰, 就是它的操作方式, 因為 TV 的操作方式不是滑鼠點擊, 不是手指觸碰, 而是 focus 的焦點轉移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/>
              <a:t>自訂焦點功能包含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zh-TW"/>
              <a:t>第一種, 換頁時的處理, 自動記錄最後選取的卡片, 返回上一頁時會自動 focus 到那張卡片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zh-TW"/>
              <a:t>第二種, 在網格中的移動, 圖片中焦點往下移動的時候永遠選到每行的第一張卡片, 是因為每行都有控制”可以選擇的目標”, 預設是第一張卡片, 當然也會記錄在離開這行時的最後獲得焦點卡片, 再次進入行的時候也會 focus 到它, 舉例: 在某一行內左右切換選到第二張卡片, 再次進入這行時也會選到第二張卡片</a:t>
            </a:r>
            <a:endParaRPr/>
          </a:p>
        </p:txBody>
      </p:sp>
      <p:sp>
        <p:nvSpPr>
          <p:cNvPr id="153" name="Google Shape;15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zh-TW"/>
              <a:t>player 的功能介紹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zh-TW"/>
              <a:t>影界片介紹的按鈕與 drawer, 集數列表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zh-TW"/>
              <a:t>暫停與播放, 從頭播放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zh-TW"/>
              <a:t>時間軸的操作(可以快轉與倒轉)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zh-TW"/>
              <a:t>可以從 exo player 中讀取影片的可選項, 例如語音語系, 字幕語系, 畫質的選擇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zh-TW"/>
              <a:t>支援播放影片與直播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zh-TW"/>
              <a:t>播放數據紀錄的介紹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zh-TW"/>
              <a:t>需求是 Youtube 的波浪線觀看紀錄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zh-TW"/>
              <a:t>實作方式, 有一個變數會記錄開始觀看的起始時間, 部分操作會將起始時間到當前時間 Call API 給後端, 之後在將起始時間的變數更新到現在, 以此重複</a:t>
            </a:r>
            <a:endParaRPr/>
          </a:p>
        </p:txBody>
      </p:sp>
      <p:sp>
        <p:nvSpPr>
          <p:cNvPr id="160" name="Google Shape;16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zh-TW"/>
              <a:t>背景說明, 亞洲指</a:t>
            </a:r>
            <a:r>
              <a:rPr lang="zh-TW"/>
              <a:t>標</a:t>
            </a:r>
            <a:r>
              <a:rPr lang="zh-TW"/>
              <a:t>的系統營運方式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zh-TW"/>
              <a:t>爬蟲去目標網站抓取文章並且將文章存入到資料庫, 然後 Worker 會定時讀取文章, 並將文章經過商業邏輯運算, 統計為數據報表, 再賣給客戶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zh-TW"/>
              <a:t>這個專案我是中途接手的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TW"/>
              <a:t>接手時能拿到的資料相當有限, 只有一組 AWS 帳號, 加上一份 Excel 清單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TW"/>
              <a:t>清單上記錄每台伺服器有哪些爬蟲、各自對應的目標網站 —— 例如第一台伺服器上有 A 爬蟲, A 爬蟲負責抓 AA 這個網站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TW"/>
              <a:t>除此之外, 沒有系統文件，也沒有部署說明。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TW"/>
              <a:t>我的任務是建立一組由我們自己管理的伺服器, 把歸屬於我們的爬蟲搬進去運行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TW"/>
              <a:t>所以我的第一步不是寫程式, 而是盤點 —— 先把伺服器上實際有什麼, 程式放在哪裡, 跑的是什麼, 全部確認清楚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zh-TW"/>
              <a:t>基礎建設流程如下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zh-TW"/>
              <a:t>既有的作業方式是直接在線上伺服器上開發和測試, 我希望開發, 測試和上線能分開, 所以第一件事就是把程式從伺服器取回本地, 做法是在伺服器上安裝 AWS CLI, 把程式打包壓縮後上傳到 S3, 再從 AWS 後台把壓縮檔下載到我自己的電腦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zh-TW"/>
              <a:t>取回之後, 我把這些程式上傳到公司的 GitLab, 先把版本控制建立起來 —— 之後每一次修改都有紀錄可以追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zh-TW"/>
              <a:t>之後我開始在本地安裝 Python, 準備執行爬蟲, 但是爬蟲使用的套件無法在 Mac 上運行, 所以我開始寫 </a:t>
            </a:r>
            <a:r>
              <a:rPr lang="zh-TW"/>
              <a:t>Dockerfile</a:t>
            </a:r>
            <a:r>
              <a:rPr lang="zh-TW"/>
              <a:t>, 用於模擬伺服器的 Linux 環境, 在 Linux 中安裝 </a:t>
            </a:r>
            <a:r>
              <a:rPr lang="zh-TW"/>
              <a:t>Python</a:t>
            </a:r>
            <a:r>
              <a:rPr lang="zh-TW"/>
              <a:t>, 瀏覽器, 運行爬蟲</a:t>
            </a:r>
            <a:r>
              <a:rPr lang="zh-TW"/>
              <a:t>等的</a:t>
            </a:r>
            <a:r>
              <a:rPr lang="zh-TW"/>
              <a:t>必要套件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zh-TW"/>
              <a:t>本地開發環境建設完成後, 開始研究如何</a:t>
            </a:r>
            <a:r>
              <a:rPr lang="zh-TW"/>
              <a:t>部署</a:t>
            </a:r>
            <a:r>
              <a:rPr lang="zh-TW"/>
              <a:t>到伺服器上, 方式與下載爬蟲類似, 我在我的本地電腦安裝 AWS CLI, 將爬蟲壓縮上傳到 </a:t>
            </a:r>
            <a:r>
              <a:rPr lang="zh-TW"/>
              <a:t>AWS</a:t>
            </a:r>
            <a:r>
              <a:rPr lang="zh-TW"/>
              <a:t> S3(AWS 雲端), 並對 AWS EC2(伺服器)下指令, 讓伺服器下載爬蟲壓縮檔解壓縮並且覆蓋現有程式, 並</a:t>
            </a:r>
            <a:r>
              <a:rPr lang="zh-TW"/>
              <a:t>將這個流程</a:t>
            </a:r>
            <a:r>
              <a:rPr lang="zh-TW"/>
              <a:t>寫成 Script, </a:t>
            </a:r>
            <a:r>
              <a:rPr lang="zh-TW"/>
              <a:t>讓每台伺服器部署更方便。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zh-TW"/>
              <a:t>這套流程最後套用在我建立的 6 台 EC2 上，包含 S3、安全群組與網路安全設定。</a:t>
            </a:r>
            <a:endParaRPr/>
          </a:p>
        </p:txBody>
      </p:sp>
      <p:sp>
        <p:nvSpPr>
          <p:cNvPr id="167" name="Google Shape;167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3" name="Google Shape;173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oogle Shape;14;p2"/>
          <p:cNvGrpSpPr/>
          <p:nvPr/>
        </p:nvGrpSpPr>
        <p:grpSpPr>
          <a:xfrm>
            <a:off x="5800234" y="3807170"/>
            <a:ext cx="591423" cy="140843"/>
            <a:chOff x="4137525" y="2915950"/>
            <a:chExt cx="869100" cy="207000"/>
          </a:xfrm>
        </p:grpSpPr>
        <p:sp>
          <p:nvSpPr>
            <p:cNvPr id="15" name="Google Shape;15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" name="Google Shape;18;p2"/>
          <p:cNvSpPr txBox="1"/>
          <p:nvPr>
            <p:ph type="ctrTitle"/>
          </p:nvPr>
        </p:nvSpPr>
        <p:spPr>
          <a:xfrm>
            <a:off x="895010" y="1321067"/>
            <a:ext cx="10401900" cy="23067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895000" y="4233168"/>
            <a:ext cx="104019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11320333" y="6241346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內容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/>
            </a:lvl2pPr>
            <a:lvl3pPr indent="-342900" lvl="2" marL="1371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3pPr>
            <a:lvl4pPr indent="-342900" lvl="3" marL="18288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/>
            </a:lvl5pPr>
            <a:lvl6pPr indent="-342900" lvl="5" marL="27432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1390650" y="6453386"/>
            <a:ext cx="12045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2893564" y="6453386"/>
            <a:ext cx="62808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9472736" y="6453386"/>
            <a:ext cx="15963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標題" showMasterSp="0">
  <p:cSld name="SECTION_HEADER_1">
    <p:bg>
      <p:bgPr>
        <a:solidFill>
          <a:schemeClr val="lt1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765025" y="1301360"/>
            <a:ext cx="96129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200"/>
              <a:buFont typeface="Libre Franklin"/>
              <a:buNone/>
              <a:defRPr sz="7200" cap="none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65025" y="4216328"/>
            <a:ext cx="9612900" cy="11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>
                <a:solidFill>
                  <a:schemeClr val="lt2"/>
                </a:solidFill>
              </a:defRPr>
            </a:lvl1pPr>
            <a:lvl2pPr indent="-228600" lvl="1" marL="914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738908" y="6453386"/>
            <a:ext cx="16224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2584312" y="6453386"/>
            <a:ext cx="70233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9830683" y="6453386"/>
            <a:ext cx="15963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33" name="Google Shape;33;p4" title="Crop Mark"/>
          <p:cNvSpPr/>
          <p:nvPr/>
        </p:nvSpPr>
        <p:spPr>
          <a:xfrm>
            <a:off x="8151962" y="1685652"/>
            <a:ext cx="3275013" cy="4408488"/>
          </a:xfrm>
          <a:custGeom>
            <a:rect b="b" l="l" r="r" t="t"/>
            <a:pathLst>
              <a:path extrusionOk="0" h="5554" w="4125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 txBox="1"/>
          <p:nvPr>
            <p:ph type="title"/>
          </p:nvPr>
        </p:nvSpPr>
        <p:spPr>
          <a:xfrm>
            <a:off x="895000" y="2855000"/>
            <a:ext cx="10469700" cy="114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11320333" y="6241346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2" type="sldNum"/>
          </p:nvPr>
        </p:nvSpPr>
        <p:spPr>
          <a:xfrm>
            <a:off x="11320333" y="6241346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" type="body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2" type="body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45" name="Google Shape;45;p7"/>
          <p:cNvSpPr txBox="1"/>
          <p:nvPr>
            <p:ph idx="12" type="sldNum"/>
          </p:nvPr>
        </p:nvSpPr>
        <p:spPr>
          <a:xfrm>
            <a:off x="11320333" y="6241346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2" type="sldNum"/>
          </p:nvPr>
        </p:nvSpPr>
        <p:spPr>
          <a:xfrm>
            <a:off x="11320333" y="6241346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/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51" name="Google Shape;51;p9"/>
          <p:cNvSpPr txBox="1"/>
          <p:nvPr>
            <p:ph idx="1" type="body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52" name="Google Shape;52;p9"/>
          <p:cNvSpPr txBox="1"/>
          <p:nvPr>
            <p:ph idx="12" type="sldNum"/>
          </p:nvPr>
        </p:nvSpPr>
        <p:spPr>
          <a:xfrm>
            <a:off x="11320333" y="6241346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/>
          <p:cNvSpPr txBox="1"/>
          <p:nvPr>
            <p:ph type="title"/>
          </p:nvPr>
        </p:nvSpPr>
        <p:spPr>
          <a:xfrm>
            <a:off x="653667" y="701800"/>
            <a:ext cx="8302800" cy="54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5" name="Google Shape;55;p10"/>
          <p:cNvSpPr txBox="1"/>
          <p:nvPr>
            <p:ph idx="12" type="sldNum"/>
          </p:nvPr>
        </p:nvSpPr>
        <p:spPr>
          <a:xfrm>
            <a:off x="11320333" y="6241346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8" name="Google Shape;58;p11"/>
          <p:cNvCxnSpPr/>
          <p:nvPr/>
        </p:nvCxnSpPr>
        <p:spPr>
          <a:xfrm>
            <a:off x="6706233" y="5994000"/>
            <a:ext cx="624300" cy="0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9" name="Google Shape;59;p11"/>
          <p:cNvSpPr txBox="1"/>
          <p:nvPr>
            <p:ph type="title"/>
          </p:nvPr>
        </p:nvSpPr>
        <p:spPr>
          <a:xfrm>
            <a:off x="354000" y="1441867"/>
            <a:ext cx="5393700" cy="22803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60" name="Google Shape;60;p11"/>
          <p:cNvSpPr txBox="1"/>
          <p:nvPr>
            <p:ph idx="1" type="subTitle"/>
          </p:nvPr>
        </p:nvSpPr>
        <p:spPr>
          <a:xfrm>
            <a:off x="354000" y="3793601"/>
            <a:ext cx="5393700" cy="17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1" name="Google Shape;61;p11"/>
          <p:cNvSpPr txBox="1"/>
          <p:nvPr>
            <p:ph idx="2" type="body"/>
          </p:nvPr>
        </p:nvSpPr>
        <p:spPr>
          <a:xfrm>
            <a:off x="6586000" y="965600"/>
            <a:ext cx="5115900" cy="49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  <a:defRPr>
                <a:solidFill>
                  <a:schemeClr val="lt1"/>
                </a:solidFill>
              </a:defRPr>
            </a:lvl1pPr>
            <a:lvl2pPr indent="-3492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2pPr>
            <a:lvl3pPr indent="-3492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3pPr>
            <a:lvl4pPr indent="-3492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  <a:defRPr>
                <a:solidFill>
                  <a:schemeClr val="lt1"/>
                </a:solidFill>
              </a:defRPr>
            </a:lvl4pPr>
            <a:lvl5pPr indent="-3492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5pPr>
            <a:lvl6pPr indent="-3492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6pPr>
            <a:lvl7pPr indent="-3492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  <a:defRPr>
                <a:solidFill>
                  <a:schemeClr val="lt1"/>
                </a:solidFill>
              </a:defRPr>
            </a:lvl7pPr>
            <a:lvl8pPr indent="-3492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8pPr>
            <a:lvl9pPr indent="-3492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2" name="Google Shape;62;p11"/>
          <p:cNvSpPr txBox="1"/>
          <p:nvPr>
            <p:ph idx="12" type="sldNum"/>
          </p:nvPr>
        </p:nvSpPr>
        <p:spPr>
          <a:xfrm>
            <a:off x="11320333" y="6241346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2"/>
          <p:cNvSpPr txBox="1"/>
          <p:nvPr>
            <p:ph idx="1" type="body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"/>
              <a:buNone/>
              <a:defRPr sz="28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65" name="Google Shape;65;p12"/>
          <p:cNvSpPr txBox="1"/>
          <p:nvPr>
            <p:ph idx="12" type="sldNum"/>
          </p:nvPr>
        </p:nvSpPr>
        <p:spPr>
          <a:xfrm>
            <a:off x="11320333" y="6241346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hasCustomPrompt="1" type="title"/>
          </p:nvPr>
        </p:nvSpPr>
        <p:spPr>
          <a:xfrm>
            <a:off x="415600" y="1673700"/>
            <a:ext cx="11360700" cy="25209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68" name="Google Shape;68;p13"/>
          <p:cNvSpPr txBox="1"/>
          <p:nvPr>
            <p:ph idx="1" type="body"/>
          </p:nvPr>
        </p:nvSpPr>
        <p:spPr>
          <a:xfrm>
            <a:off x="415600" y="4304567"/>
            <a:ext cx="11360700" cy="1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69" name="Google Shape;69;p13"/>
          <p:cNvSpPr txBox="1"/>
          <p:nvPr>
            <p:ph idx="12" type="sldNum"/>
          </p:nvPr>
        </p:nvSpPr>
        <p:spPr>
          <a:xfrm>
            <a:off x="11320333" y="6241346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/>
          <p:nvPr>
            <p:ph idx="12" type="sldNum"/>
          </p:nvPr>
        </p:nvSpPr>
        <p:spPr>
          <a:xfrm>
            <a:off x="11320333" y="6241346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late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swald"/>
              <a:buNone/>
              <a:defRPr b="0" i="0" sz="4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swald"/>
              <a:buNone/>
              <a:defRPr b="0" i="0" sz="4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swald"/>
              <a:buNone/>
              <a:defRPr b="0" i="0" sz="4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swald"/>
              <a:buNone/>
              <a:defRPr b="0" i="0" sz="4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swald"/>
              <a:buNone/>
              <a:defRPr b="0" i="0" sz="4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swald"/>
              <a:buNone/>
              <a:defRPr b="0" i="0" sz="4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swald"/>
              <a:buNone/>
              <a:defRPr b="0" i="0" sz="4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swald"/>
              <a:buNone/>
              <a:defRPr b="0" i="0" sz="4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swald"/>
              <a:buNone/>
              <a:defRPr b="0" i="0" sz="4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Average"/>
              <a:buChar char="●"/>
              <a:defRPr b="0" i="0" sz="24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-3492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Average"/>
              <a:buChar char="○"/>
              <a:defRPr b="0" i="0" sz="19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-3492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Average"/>
              <a:buChar char="■"/>
              <a:defRPr b="0" i="0" sz="19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-3492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Average"/>
              <a:buChar char="●"/>
              <a:defRPr b="0" i="0" sz="19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-3492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Average"/>
              <a:buChar char="○"/>
              <a:defRPr b="0" i="0" sz="19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-3492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Average"/>
              <a:buChar char="■"/>
              <a:defRPr b="0" i="0" sz="19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-3492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Average"/>
              <a:buChar char="●"/>
              <a:defRPr b="0" i="0" sz="19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-3492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Average"/>
              <a:buChar char="○"/>
              <a:defRPr b="0" i="0" sz="19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-3492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Average"/>
              <a:buChar char="■"/>
              <a:defRPr b="0" i="0" sz="19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11320333" y="6241346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gif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gif"/><Relationship Id="rId4" Type="http://schemas.openxmlformats.org/officeDocument/2006/relationships/image" Target="../media/image6.gif"/><Relationship Id="rId5" Type="http://schemas.openxmlformats.org/officeDocument/2006/relationships/image" Target="../media/image11.gif"/><Relationship Id="rId6" Type="http://schemas.openxmlformats.org/officeDocument/2006/relationships/image" Target="../media/image3.gif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gif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gif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gif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gif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/>
          <p:nvPr>
            <p:ph type="ctrTitle"/>
          </p:nvPr>
        </p:nvSpPr>
        <p:spPr>
          <a:xfrm>
            <a:off x="943926" y="1321067"/>
            <a:ext cx="10401900" cy="230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Font typeface="Libre Franklin"/>
              <a:buNone/>
            </a:pPr>
            <a:r>
              <a:rPr lang="zh-TW"/>
              <a:t>您好，我是莊鎮宇</a:t>
            </a:r>
            <a:endParaRPr/>
          </a:p>
        </p:txBody>
      </p:sp>
      <p:sp>
        <p:nvSpPr>
          <p:cNvPr id="77" name="Google Shape;77;p15"/>
          <p:cNvSpPr txBox="1"/>
          <p:nvPr>
            <p:ph idx="1" type="subTitle"/>
          </p:nvPr>
        </p:nvSpPr>
        <p:spPr>
          <a:xfrm>
            <a:off x="895000" y="4233168"/>
            <a:ext cx="104019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</a:pPr>
            <a:r>
              <a:rPr lang="zh-TW" sz="3200"/>
              <a:t>Ian Chuang</a:t>
            </a:r>
            <a:endParaRPr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/>
          <p:nvPr>
            <p:ph type="ctrTitle"/>
          </p:nvPr>
        </p:nvSpPr>
        <p:spPr>
          <a:xfrm>
            <a:off x="895010" y="1321067"/>
            <a:ext cx="10401900" cy="230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Font typeface="Libre Franklin"/>
              <a:buNone/>
            </a:pPr>
            <a:r>
              <a:rPr lang="zh-TW"/>
              <a:t>經歷介紹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type="title"/>
          </p:nvPr>
        </p:nvSpPr>
        <p:spPr>
          <a:xfrm>
            <a:off x="1295400" y="686775"/>
            <a:ext cx="96012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Libre Franklin"/>
              <a:buNone/>
            </a:pPr>
            <a:r>
              <a:rPr lang="zh-TW"/>
              <a:t>奇蹟行動科技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Libre Franklin"/>
              <a:buNone/>
            </a:pPr>
            <a:r>
              <a:rPr lang="zh-TW" sz="2400"/>
              <a:t>2021/11 - Present</a:t>
            </a:r>
            <a:endParaRPr sz="2400"/>
          </a:p>
        </p:txBody>
      </p:sp>
      <p:sp>
        <p:nvSpPr>
          <p:cNvPr id="88" name="Google Shape;88;p17"/>
          <p:cNvSpPr txBox="1"/>
          <p:nvPr>
            <p:ph idx="1" type="body"/>
          </p:nvPr>
        </p:nvSpPr>
        <p:spPr>
          <a:xfrm>
            <a:off x="1295400" y="2155925"/>
            <a:ext cx="9601200" cy="42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71348" lvl="0" marL="384048" rtl="0" algn="l">
              <a:lnSpc>
                <a:spcPct val="17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zh-TW" sz="1800"/>
              <a:t>前台網站開發：使用 React / Next.js（MVVM 設計模式、MobX 狀態管理）， SSR/CSR 混合渲染提升網站搜尋能見度。</a:t>
            </a:r>
            <a:endParaRPr sz="1800"/>
          </a:p>
          <a:p>
            <a:pPr indent="-371348" lvl="0" marL="384048" rtl="0" algn="l">
              <a:lnSpc>
                <a:spcPct val="170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zh-TW" sz="1800"/>
              <a:t>後台介面開發：表單驗證、多步驟引導流程、拖移排序、串接 Google map 等功能。</a:t>
            </a:r>
            <a:endParaRPr sz="1800"/>
          </a:p>
          <a:p>
            <a:pPr indent="-371348" lvl="0" marL="384048" rtl="0" algn="l">
              <a:lnSpc>
                <a:spcPct val="170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zh-TW" sz="1800"/>
              <a:t>跨平台開發： Android TV App（Kotlin + Jetpack Compose）的 UI 與功能開發。</a:t>
            </a:r>
            <a:endParaRPr sz="1800"/>
          </a:p>
          <a:p>
            <a:pPr indent="-371348" lvl="0" marL="384048" rtl="0" algn="l">
              <a:lnSpc>
                <a:spcPct val="170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zh-TW" sz="1800"/>
              <a:t>跨領域技術：使用 Python、Docker、Linux、AWS 建立並維護爬蟲</a:t>
            </a:r>
            <a:r>
              <a:rPr lang="zh-TW" sz="1800"/>
              <a:t>系統</a:t>
            </a:r>
            <a:r>
              <a:rPr lang="zh-TW" sz="1800"/>
              <a:t>，負責架設本地開發環境與雲端正式環境與自動化部署</a:t>
            </a:r>
            <a:r>
              <a:rPr lang="zh-TW" sz="1800"/>
              <a:t>和後續維運</a:t>
            </a:r>
            <a:r>
              <a:rPr lang="zh-TW" sz="1800"/>
              <a:t>。</a:t>
            </a:r>
            <a:endParaRPr sz="1800"/>
          </a:p>
          <a:p>
            <a:pPr indent="-371348" lvl="0" marL="384048" rtl="0" algn="l">
              <a:lnSpc>
                <a:spcPct val="170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zh-TW" sz="1800"/>
              <a:t>AI 工具輔助開發：透過 AI（Claude, ChatGPT）提升開發效率，</a:t>
            </a:r>
            <a:r>
              <a:rPr lang="zh-TW" sz="1800"/>
              <a:t>專注在</a:t>
            </a:r>
            <a:r>
              <a:rPr lang="zh-TW" sz="1800"/>
              <a:t>架構設計與程式品質。</a:t>
            </a:r>
            <a:endParaRPr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type="ctrTitle"/>
          </p:nvPr>
        </p:nvSpPr>
        <p:spPr>
          <a:xfrm>
            <a:off x="895010" y="1321067"/>
            <a:ext cx="10401900" cy="230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Font typeface="Libre Franklin"/>
              <a:buNone/>
            </a:pPr>
            <a:r>
              <a:rPr lang="zh-TW"/>
              <a:t>專案介紹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557925" y="656875"/>
            <a:ext cx="9601200" cy="6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Libre Franklin"/>
              <a:buNone/>
            </a:pPr>
            <a:r>
              <a:rPr lang="zh-TW"/>
              <a:t>附近 nearyou  - 房屋租賃平台</a:t>
            </a:r>
            <a:endParaRPr/>
          </a:p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557925" y="1800750"/>
            <a:ext cx="5865900" cy="45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4048" lvl="0" marL="384048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</a:pPr>
            <a:r>
              <a:rPr lang="zh-TW"/>
              <a:t>負責</a:t>
            </a:r>
            <a:r>
              <a:rPr lang="zh-TW" sz="1800"/>
              <a:t>：</a:t>
            </a:r>
            <a:r>
              <a:rPr lang="zh-TW"/>
              <a:t>前端(UI, 互動功能, 串接 API, …)</a:t>
            </a:r>
            <a:endParaRPr/>
          </a:p>
          <a:p>
            <a:pPr indent="-384048" lvl="0" marL="384048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</a:pPr>
            <a:r>
              <a:rPr lang="zh-TW"/>
              <a:t>架構</a:t>
            </a:r>
            <a:r>
              <a:rPr lang="zh-TW" sz="1800"/>
              <a:t>：</a:t>
            </a:r>
            <a:r>
              <a:rPr lang="zh-TW"/>
              <a:t>React + Next + TypeScript + MobX</a:t>
            </a:r>
            <a:endParaRPr/>
          </a:p>
          <a:p>
            <a:pPr indent="-384048" lvl="0" marL="384048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2400"/>
              <a:buChar char="●"/>
            </a:pPr>
            <a:r>
              <a:rPr lang="zh-TW"/>
              <a:t>https://nearyou.com.tw</a:t>
            </a:r>
            <a:endParaRPr/>
          </a:p>
          <a:p>
            <a:pPr indent="-231648" lvl="0" marL="384048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</a:pPr>
            <a:r>
              <a:t/>
            </a:r>
            <a:endParaRPr/>
          </a:p>
        </p:txBody>
      </p:sp>
      <p:pic>
        <p:nvPicPr>
          <p:cNvPr id="100" name="Google Shape;10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0175" y="2504475"/>
            <a:ext cx="5493450" cy="257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type="title"/>
          </p:nvPr>
        </p:nvSpPr>
        <p:spPr>
          <a:xfrm>
            <a:off x="557925" y="656875"/>
            <a:ext cx="9601200" cy="6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Libre Franklin"/>
              <a:buNone/>
            </a:pPr>
            <a:r>
              <a:rPr lang="zh-TW"/>
              <a:t>附近 nearyou  - 功能介紹 - SEO</a:t>
            </a:r>
            <a:endParaRPr/>
          </a:p>
        </p:txBody>
      </p:sp>
      <p:sp>
        <p:nvSpPr>
          <p:cNvPr id="106" name="Google Shape;106;p20"/>
          <p:cNvSpPr txBox="1"/>
          <p:nvPr>
            <p:ph idx="1" type="body"/>
          </p:nvPr>
        </p:nvSpPr>
        <p:spPr>
          <a:xfrm>
            <a:off x="557925" y="1800750"/>
            <a:ext cx="6126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810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2400"/>
              <a:buChar char="●"/>
            </a:pPr>
            <a:r>
              <a:rPr lang="zh-TW"/>
              <a:t>Server Side Render + 語意標籤</a:t>
            </a:r>
            <a:endParaRPr/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zh-TW"/>
              <a:t>動態 Title, Meta, JSON-LD, Open Graph</a:t>
            </a:r>
            <a:endParaRPr/>
          </a:p>
        </p:txBody>
      </p:sp>
      <p:pic>
        <p:nvPicPr>
          <p:cNvPr id="107" name="Google Shape;107;p20" title="螢幕擷取畫面 2025-09-25 175223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30347" y="2309425"/>
            <a:ext cx="2898600" cy="388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20" title="螢幕擷取畫面 2025-09-25 175711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01125" y="3528800"/>
            <a:ext cx="4886325" cy="266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/>
          <p:nvPr>
            <p:ph type="title"/>
          </p:nvPr>
        </p:nvSpPr>
        <p:spPr>
          <a:xfrm>
            <a:off x="557925" y="656875"/>
            <a:ext cx="9601200" cy="6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Libre Franklin"/>
              <a:buNone/>
            </a:pPr>
            <a:r>
              <a:rPr lang="zh-TW"/>
              <a:t>附近 nearyou  - 功能介紹 - 搜尋房屋</a:t>
            </a:r>
            <a:endParaRPr/>
          </a:p>
        </p:txBody>
      </p:sp>
      <p:sp>
        <p:nvSpPr>
          <p:cNvPr id="114" name="Google Shape;114;p21"/>
          <p:cNvSpPr txBox="1"/>
          <p:nvPr>
            <p:ph idx="1" type="body"/>
          </p:nvPr>
        </p:nvSpPr>
        <p:spPr>
          <a:xfrm>
            <a:off x="557925" y="1800750"/>
            <a:ext cx="58659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810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2400"/>
              <a:buChar char="●"/>
            </a:pPr>
            <a:r>
              <a:rPr lang="zh-TW"/>
              <a:t>使用 Form 表單實做條件篩選, 避免過於複雜的狀態管理</a:t>
            </a:r>
            <a:endParaRPr/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zh-TW"/>
              <a:t>畫面到底部時自動讀取下一頁</a:t>
            </a:r>
            <a:endParaRPr/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zh-TW"/>
              <a:t>整合 Google Map API, 將房屋的地址標記在 Map 上</a:t>
            </a:r>
            <a:endParaRPr/>
          </a:p>
        </p:txBody>
      </p:sp>
      <p:pic>
        <p:nvPicPr>
          <p:cNvPr id="115" name="Google Shape;115;p21" title="螢幕擷取畫面 2025-09-25 174720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05976" y="1506361"/>
            <a:ext cx="5164725" cy="3845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 txBox="1"/>
          <p:nvPr>
            <p:ph type="title"/>
          </p:nvPr>
        </p:nvSpPr>
        <p:spPr>
          <a:xfrm>
            <a:off x="557925" y="656875"/>
            <a:ext cx="9601200" cy="6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Libre Franklin"/>
              <a:buNone/>
            </a:pPr>
            <a:r>
              <a:rPr lang="zh-TW"/>
              <a:t>展昭國際 - 展覽場地平面圖系統</a:t>
            </a:r>
            <a:endParaRPr/>
          </a:p>
        </p:txBody>
      </p:sp>
      <p:sp>
        <p:nvSpPr>
          <p:cNvPr id="121" name="Google Shape;121;p22"/>
          <p:cNvSpPr txBox="1"/>
          <p:nvPr>
            <p:ph idx="1" type="body"/>
          </p:nvPr>
        </p:nvSpPr>
        <p:spPr>
          <a:xfrm>
            <a:off x="557925" y="1800750"/>
            <a:ext cx="51348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810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2400"/>
              <a:buChar char="●"/>
            </a:pPr>
            <a:r>
              <a:rPr lang="zh-TW"/>
              <a:t>負責：平面圖系統</a:t>
            </a:r>
            <a:endParaRPr/>
          </a:p>
          <a:p>
            <a:pPr indent="-3810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2400"/>
              <a:buChar char="●"/>
            </a:pPr>
            <a:r>
              <a:rPr lang="zh-TW"/>
              <a:t>架構：React + MobX + PixiJS </a:t>
            </a:r>
            <a:endParaRPr/>
          </a:p>
        </p:txBody>
      </p:sp>
      <p:pic>
        <p:nvPicPr>
          <p:cNvPr id="122" name="Google Shape;122;p22" title="chanchao_booths_results.gif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88850" y="1800750"/>
            <a:ext cx="5014200" cy="272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3"/>
          <p:cNvSpPr txBox="1"/>
          <p:nvPr>
            <p:ph type="title"/>
          </p:nvPr>
        </p:nvSpPr>
        <p:spPr>
          <a:xfrm>
            <a:off x="557925" y="656875"/>
            <a:ext cx="9601200" cy="6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Libre Franklin"/>
              <a:buNone/>
            </a:pPr>
            <a:r>
              <a:rPr lang="zh-TW"/>
              <a:t>展昭國際 - 展覽場地平面圖系統 - 操作</a:t>
            </a:r>
            <a:endParaRPr/>
          </a:p>
        </p:txBody>
      </p:sp>
      <p:pic>
        <p:nvPicPr>
          <p:cNvPr id="128" name="Google Shape;128;p23" title="chanchao_booths_create.gif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5812" y="1562225"/>
            <a:ext cx="4400418" cy="2387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23" title="chanchao_booths_copy.gif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88500" y="1527050"/>
            <a:ext cx="4400450" cy="2387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23" title="chanchao_booths_merge.gif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55800" y="4209488"/>
            <a:ext cx="4400450" cy="23872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3" title="chanchao_booths_move.gif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288513" y="4209512"/>
            <a:ext cx="4400412" cy="2387225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3"/>
          <p:cNvSpPr txBox="1"/>
          <p:nvPr/>
        </p:nvSpPr>
        <p:spPr>
          <a:xfrm>
            <a:off x="211000" y="1562225"/>
            <a:ext cx="1020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zh-TW" sz="24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新增</a:t>
            </a:r>
            <a:endParaRPr b="0" i="0" sz="2400" u="none" cap="none" strike="noStrike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33" name="Google Shape;133;p23"/>
          <p:cNvSpPr txBox="1"/>
          <p:nvPr/>
        </p:nvSpPr>
        <p:spPr>
          <a:xfrm>
            <a:off x="211000" y="4209500"/>
            <a:ext cx="1020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zh-TW" sz="24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合併</a:t>
            </a:r>
            <a:endParaRPr b="0" i="0" sz="2400" u="none" cap="none" strike="noStrike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34" name="Google Shape;134;p23"/>
          <p:cNvSpPr txBox="1"/>
          <p:nvPr/>
        </p:nvSpPr>
        <p:spPr>
          <a:xfrm>
            <a:off x="6078400" y="1527050"/>
            <a:ext cx="1020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zh-TW" sz="24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複製</a:t>
            </a:r>
            <a:endParaRPr b="0" i="0" sz="2400" u="none" cap="none" strike="noStrike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35" name="Google Shape;135;p23"/>
          <p:cNvSpPr txBox="1"/>
          <p:nvPr/>
        </p:nvSpPr>
        <p:spPr>
          <a:xfrm>
            <a:off x="6078400" y="4209500"/>
            <a:ext cx="1020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zh-TW" sz="24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選擇</a:t>
            </a:r>
            <a:endParaRPr b="0" i="0" sz="2400" u="none" cap="none" strike="noStrike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36" name="Google Shape;136;p23"/>
          <p:cNvSpPr txBox="1"/>
          <p:nvPr/>
        </p:nvSpPr>
        <p:spPr>
          <a:xfrm>
            <a:off x="6078400" y="4763600"/>
            <a:ext cx="1020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zh-TW" sz="24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移動</a:t>
            </a:r>
            <a:endParaRPr b="0" i="0" sz="2400" u="none" cap="none" strike="noStrike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 txBox="1"/>
          <p:nvPr>
            <p:ph type="title"/>
          </p:nvPr>
        </p:nvSpPr>
        <p:spPr>
          <a:xfrm>
            <a:off x="557925" y="656875"/>
            <a:ext cx="9601200" cy="6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Libre Franklin"/>
              <a:buNone/>
            </a:pPr>
            <a:r>
              <a:rPr lang="zh-TW"/>
              <a:t>展昭國際 - 展覽場地平面圖系統 - Undo</a:t>
            </a:r>
            <a:endParaRPr/>
          </a:p>
        </p:txBody>
      </p:sp>
      <p:sp>
        <p:nvSpPr>
          <p:cNvPr id="142" name="Google Shape;142;p24"/>
          <p:cNvSpPr txBox="1"/>
          <p:nvPr>
            <p:ph idx="1" type="body"/>
          </p:nvPr>
        </p:nvSpPr>
        <p:spPr>
          <a:xfrm>
            <a:off x="557925" y="1800750"/>
            <a:ext cx="5134800" cy="28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810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2400"/>
              <a:buChar char="●"/>
            </a:pPr>
            <a:r>
              <a:rPr lang="zh-TW"/>
              <a:t>紀錄攤位操作時改變前與改變後的狀態與操作的類型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根據操作類型與攤位新舊狀態, 判斷還原時需要的操作, 以及直接對地圖操作</a:t>
            </a:r>
            <a:endParaRPr/>
          </a:p>
        </p:txBody>
      </p:sp>
      <p:pic>
        <p:nvPicPr>
          <p:cNvPr id="143" name="Google Shape;143;p24" title="chanchao_booths_back.gif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61200" y="1800750"/>
            <a:ext cx="5806974" cy="3150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5"/>
          <p:cNvSpPr txBox="1"/>
          <p:nvPr>
            <p:ph type="title"/>
          </p:nvPr>
        </p:nvSpPr>
        <p:spPr>
          <a:xfrm>
            <a:off x="557925" y="656875"/>
            <a:ext cx="9601200" cy="6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Libre Franklin"/>
              <a:buNone/>
            </a:pPr>
            <a:r>
              <a:rPr lang="zh-TW"/>
              <a:t>PTS TV App - 公共電視 Android TV App</a:t>
            </a:r>
            <a:endParaRPr/>
          </a:p>
        </p:txBody>
      </p:sp>
      <p:sp>
        <p:nvSpPr>
          <p:cNvPr id="149" name="Google Shape;149;p25"/>
          <p:cNvSpPr txBox="1"/>
          <p:nvPr>
            <p:ph idx="1" type="body"/>
          </p:nvPr>
        </p:nvSpPr>
        <p:spPr>
          <a:xfrm>
            <a:off x="557925" y="1800750"/>
            <a:ext cx="57300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84048" lvl="0" marL="384048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</a:pPr>
            <a:r>
              <a:rPr lang="zh-TW"/>
              <a:t>負責：前端(UI, 互動功能, 串接 API, …)</a:t>
            </a:r>
            <a:endParaRPr/>
          </a:p>
          <a:p>
            <a:pPr indent="-384048" lvl="0" marL="384048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</a:pPr>
            <a:r>
              <a:rPr lang="zh-TW"/>
              <a:t>架構：Kotlin + Jetpack Compose</a:t>
            </a:r>
            <a:endParaRPr/>
          </a:p>
          <a:p>
            <a:pPr indent="-384048" lvl="0" marL="384048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2400"/>
              <a:buChar char="●"/>
            </a:pPr>
            <a:r>
              <a:rPr lang="zh-TW"/>
              <a:t>API：Restful  + Graphql</a:t>
            </a:r>
            <a:endParaRPr/>
          </a:p>
        </p:txBody>
      </p:sp>
      <p:pic>
        <p:nvPicPr>
          <p:cNvPr id="150" name="Google Shape;150;p25" title="ptstv-home.gif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23825" y="1837787"/>
            <a:ext cx="5463376" cy="31824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6"/>
          <p:cNvSpPr txBox="1"/>
          <p:nvPr>
            <p:ph type="title"/>
          </p:nvPr>
        </p:nvSpPr>
        <p:spPr>
          <a:xfrm>
            <a:off x="557925" y="656875"/>
            <a:ext cx="9601200" cy="6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Libre Franklin"/>
              <a:buNone/>
            </a:pPr>
            <a:r>
              <a:rPr lang="zh-TW"/>
              <a:t>PTS TV App - 功能介紹 - 自訂焦點</a:t>
            </a:r>
            <a:endParaRPr/>
          </a:p>
        </p:txBody>
      </p:sp>
      <p:sp>
        <p:nvSpPr>
          <p:cNvPr id="156" name="Google Shape;156;p26"/>
          <p:cNvSpPr txBox="1"/>
          <p:nvPr>
            <p:ph idx="1" type="body"/>
          </p:nvPr>
        </p:nvSpPr>
        <p:spPr>
          <a:xfrm>
            <a:off x="557925" y="1800750"/>
            <a:ext cx="40368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84048" lvl="0" marL="384048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</a:pPr>
            <a:r>
              <a:rPr lang="zh-TW"/>
              <a:t>紀錄上一頁的焦點目標</a:t>
            </a:r>
            <a:endParaRPr/>
          </a:p>
          <a:p>
            <a:pPr indent="-384048" lvl="0" marL="384048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2400"/>
              <a:buChar char="●"/>
            </a:pPr>
            <a:r>
              <a:rPr lang="zh-TW"/>
              <a:t>紀錄每行最後的焦點目標</a:t>
            </a:r>
            <a:endParaRPr/>
          </a:p>
        </p:txBody>
      </p:sp>
      <p:pic>
        <p:nvPicPr>
          <p:cNvPr id="157" name="Google Shape;157;p26" title="ptstv-home.gif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23825" y="1837787"/>
            <a:ext cx="5463376" cy="31824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7"/>
          <p:cNvSpPr txBox="1"/>
          <p:nvPr>
            <p:ph type="title"/>
          </p:nvPr>
        </p:nvSpPr>
        <p:spPr>
          <a:xfrm>
            <a:off x="557925" y="656875"/>
            <a:ext cx="9601200" cy="6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Libre Franklin"/>
              <a:buNone/>
            </a:pPr>
            <a:r>
              <a:rPr lang="zh-TW"/>
              <a:t>PTS TV App - 功能介紹 - Player</a:t>
            </a:r>
            <a:endParaRPr/>
          </a:p>
        </p:txBody>
      </p:sp>
      <p:sp>
        <p:nvSpPr>
          <p:cNvPr id="163" name="Google Shape;163;p27"/>
          <p:cNvSpPr txBox="1"/>
          <p:nvPr>
            <p:ph idx="1" type="body"/>
          </p:nvPr>
        </p:nvSpPr>
        <p:spPr>
          <a:xfrm>
            <a:off x="557925" y="1800750"/>
            <a:ext cx="5048400" cy="42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84048" lvl="0" marL="384048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2400"/>
              <a:buChar char="●"/>
            </a:pPr>
            <a:r>
              <a:rPr lang="zh-TW"/>
              <a:t>依照需求實作播放器功能(影片介紹, 從頭播放, 時間軸操作, …)</a:t>
            </a:r>
            <a:endParaRPr/>
          </a:p>
          <a:p>
            <a:pPr indent="-384048" lvl="0" marL="384048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2400"/>
              <a:buChar char="●"/>
            </a:pPr>
            <a:r>
              <a:rPr lang="zh-TW"/>
              <a:t>自動偵測影片可設定的項目(語音語系, 字幕語系, 畫質的選擇)</a:t>
            </a:r>
            <a:endParaRPr/>
          </a:p>
          <a:p>
            <a:pPr indent="-384048" lvl="0" marL="384048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2400"/>
              <a:buChar char="●"/>
            </a:pPr>
            <a:r>
              <a:rPr lang="zh-TW"/>
              <a:t>支援播放影片與直播</a:t>
            </a:r>
            <a:endParaRPr/>
          </a:p>
          <a:p>
            <a:pPr indent="-384048" lvl="0" marL="384048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2400"/>
              <a:buChar char="●"/>
            </a:pPr>
            <a:r>
              <a:rPr lang="zh-TW"/>
              <a:t>播放數據紀錄(Youtube 的波浪線觀看紀錄)</a:t>
            </a:r>
            <a:endParaRPr/>
          </a:p>
        </p:txBody>
      </p:sp>
      <p:pic>
        <p:nvPicPr>
          <p:cNvPr id="164" name="Google Shape;164;p27" title="ptstv-player.gif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89300" y="1800750"/>
            <a:ext cx="5770428" cy="336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8"/>
          <p:cNvSpPr txBox="1"/>
          <p:nvPr>
            <p:ph type="title"/>
          </p:nvPr>
        </p:nvSpPr>
        <p:spPr>
          <a:xfrm>
            <a:off x="557925" y="656875"/>
            <a:ext cx="9601200" cy="6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Libre Franklin"/>
              <a:buNone/>
            </a:pPr>
            <a:r>
              <a:rPr lang="zh-TW"/>
              <a:t>亞洲指標 - 爬蟲系統基礎建設與維運</a:t>
            </a:r>
            <a:endParaRPr/>
          </a:p>
        </p:txBody>
      </p:sp>
      <p:sp>
        <p:nvSpPr>
          <p:cNvPr id="170" name="Google Shape;170;p28"/>
          <p:cNvSpPr txBox="1"/>
          <p:nvPr>
            <p:ph idx="1" type="body"/>
          </p:nvPr>
        </p:nvSpPr>
        <p:spPr>
          <a:xfrm>
            <a:off x="557925" y="1800750"/>
            <a:ext cx="110952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84048" lvl="0" marL="384048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2400"/>
              <a:buChar char="●"/>
            </a:pPr>
            <a:r>
              <a:rPr lang="zh-TW"/>
              <a:t>AWS 雲端基礎建設：自零建立 AWS  EC2、Bastion Host、安全群組與網路安全設定</a:t>
            </a:r>
            <a:endParaRPr/>
          </a:p>
          <a:p>
            <a:pPr indent="-384048" lvl="0" marL="384048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2400"/>
              <a:buChar char="●"/>
            </a:pPr>
            <a:r>
              <a:rPr lang="zh-TW"/>
              <a:t>Docker：模擬 AWS EC2 機器 Linux 環境，確保爬蟲系統可以在本地開發</a:t>
            </a:r>
            <a:endParaRPr/>
          </a:p>
          <a:p>
            <a:pPr indent="-384048" lvl="0" marL="384048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2400"/>
              <a:buChar char="●"/>
            </a:pPr>
            <a:r>
              <a:rPr lang="zh-TW"/>
              <a:t>爬蟲維護與優化：修正並優化不同網站的爬蟲，涵蓋靜態頁面抓取、動態渲染、模擬使用者操作</a:t>
            </a:r>
            <a:endParaRPr/>
          </a:p>
          <a:p>
            <a:pPr indent="-384048" lvl="0" marL="384048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2400"/>
              <a:buChar char="●"/>
            </a:pPr>
            <a:r>
              <a:rPr lang="zh-TW"/>
              <a:t>CI/CD 自動化部署：透過 AWS S3 與 SSM 實作跨多台 EC2 的自動部署流程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9"/>
          <p:cNvSpPr txBox="1"/>
          <p:nvPr>
            <p:ph type="ctrTitle"/>
          </p:nvPr>
        </p:nvSpPr>
        <p:spPr>
          <a:xfrm>
            <a:off x="1237800" y="1613049"/>
            <a:ext cx="9716400" cy="1915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200"/>
              <a:buFont typeface="Libre Franklin"/>
              <a:buNone/>
            </a:pPr>
            <a:r>
              <a:rPr lang="zh-TW" sz="7200"/>
              <a:t>Thanks For Listening</a:t>
            </a:r>
            <a:endParaRPr sz="7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佈景主題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